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0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96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50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47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95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33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763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79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4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06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9272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45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7742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04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736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740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2025-11-08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26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7325-9693-DEC5-F326-A2A424746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1213" y="422301"/>
            <a:ext cx="8915399" cy="1466671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EXPLORING CUSTOMER BEHAVIOR THROUGH DATABASE ANALYSIS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75B61-4EC1-A7C3-F606-78E5F2A98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2093" y="2167737"/>
            <a:ext cx="8915399" cy="910743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rgbClr val="00B0F0"/>
                </a:solidFill>
              </a:rPr>
              <a:t>A Real-Life Data Analyst Case Study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4B713F-7D7B-1068-71C9-27A8E6CF8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520" y="2987039"/>
            <a:ext cx="7142480" cy="385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0E9A-481A-25AD-55EE-2CDDF5B3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98990"/>
            <a:ext cx="8911687" cy="950690"/>
          </a:xfrm>
        </p:spPr>
        <p:txBody>
          <a:bodyPr>
            <a:normAutofit/>
          </a:bodyPr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C45D-0DA1-B6C4-5A31-F2794910E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572" y="1422400"/>
            <a:ext cx="7448868" cy="4673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today’s competitive online food delivery industry, understanding customer behavior is key to improving sales, customer loyalty, and overall business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project is a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case study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based on an online food ordering platform. The dataset includes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5 tables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(orders placed by customers)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(menu items with prices)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(customer signup details)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User_Name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(user IDs with names)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Goldusers_Signup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(customers who upgraded to gold membership)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26C6C-07D7-ED96-87DD-B0A3FDCF7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440" y="2885440"/>
            <a:ext cx="3972560" cy="398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7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BCF0-F48D-50BF-7F47-F5989DB8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59950"/>
            <a:ext cx="8911687" cy="788130"/>
          </a:xfrm>
        </p:spPr>
        <p:txBody>
          <a:bodyPr>
            <a:noAutofit/>
          </a:bodyPr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04EB-9336-3F20-2AE1-0D7F6719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452" y="1493520"/>
            <a:ext cx="7255828" cy="4165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main objective is to analyze customer purchase patterns, product popularity, and gold membership performance using SQL queries.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By uncovering these insights, the company can make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data-driven decisions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 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Expanding its loyalty program.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Optimizing product offerings.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Improving customer experience through personalization.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8B5C0-CDFF-276D-7766-6E1594553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360" y="2987040"/>
            <a:ext cx="4866640" cy="387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96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2C6A-2691-F571-310C-CCA86BDB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517153"/>
            <a:ext cx="8911687" cy="859250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81788-98EB-12BA-C37F-365467EA6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580" y="1753549"/>
            <a:ext cx="5437188" cy="3777622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and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Source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Customer transactions dataset (5 relational tables)</a:t>
            </a:r>
            <a:endParaRPr lang="en-US" dirty="0">
              <a:solidFill>
                <a:schemeClr val="dk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Design: </a:t>
            </a:r>
            <a:r>
              <a:rPr lang="en-US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Defined primary and </a:t>
            </a:r>
            <a:r>
              <a:rPr lang="en-US" dirty="0" err="1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foreihn</a:t>
            </a:r>
            <a:r>
              <a:rPr lang="en-US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Tools: </a:t>
            </a: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S</a:t>
            </a:r>
            <a:r>
              <a:rPr lang="en-IN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rver was used for querying.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Food Delivery Digital Art Wallpaper">
            <a:extLst>
              <a:ext uri="{FF2B5EF4-FFF2-40B4-BE49-F238E27FC236}">
                <a16:creationId xmlns:a16="http://schemas.microsoft.com/office/drawing/2014/main" id="{FCF90DD6-056F-ACBA-4CF5-4A6B03695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560" y="2174240"/>
            <a:ext cx="491744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892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4297-E9E5-4BD2-A7EF-C4E4F17D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1710"/>
            <a:ext cx="8911687" cy="889730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C1792-F6C1-6F88-0EBE-3EE9F41D8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252" y="1540188"/>
            <a:ext cx="6178868" cy="3956371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Step1</a:t>
            </a:r>
            <a:r>
              <a:rPr lang="en-US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Created the 5 tables and inserted data into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Step2</a:t>
            </a: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Ran queries to get insights about the businesss.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b="1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Step3</a:t>
            </a: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JOIN, GROUP BY, SUM, COUNT, RANK, DATEDIFF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deeper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Step4</a:t>
            </a:r>
            <a:r>
              <a:rPr lang="en-US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Gold vs Non-Gold users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terms of revenue &amp;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Step5</a:t>
            </a:r>
            <a:r>
              <a:rPr lang="en-US" dirty="0">
                <a:solidFill>
                  <a:schemeClr val="dk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Derived trends → yearly sales, product popularity, customer preferences.</a:t>
            </a:r>
            <a:endParaRPr lang="en" b="1" dirty="0">
              <a:solidFill>
                <a:schemeClr val="dk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C96C94-D94C-1D56-574F-9B4415E0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1613059"/>
            <a:ext cx="4591050" cy="363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9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D4C9-8207-D30D-B4EE-50B94BD32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90430"/>
            <a:ext cx="8911687" cy="940530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3FDE5-2171-00E0-6E05-36E8B1D9F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05" y="1458908"/>
            <a:ext cx="6723795" cy="4190051"/>
          </a:xfrm>
        </p:spPr>
        <p:txBody>
          <a:bodyPr/>
          <a:lstStyle/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&amp; 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Top Revenue Product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Butter Chicken with Rs.1700 total revenue</a:t>
            </a:r>
          </a:p>
          <a:p>
            <a:pPr marL="285750" lvl="0" indent="-285750" algn="l">
              <a:buSzPct val="1500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Top 3 Products by Revenue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algn="l">
              <a:buSzPct val="15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Butter Chicken – ₹1700</a:t>
            </a:r>
          </a:p>
          <a:p>
            <a:pPr marL="0" lvl="0" indent="0" algn="l">
              <a:buSzPct val="15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Shahi Paneer – ₹1360</a:t>
            </a:r>
          </a:p>
          <a:p>
            <a:pPr marL="0" lvl="0" indent="0" algn="l">
              <a:buSzPct val="15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Mutton Biryani – ₹1350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Lowest Revenue Product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: Mango Lassi with ₹80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Most Purchased Item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Shahi Paneer with highest order count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6D273B-326B-6F3D-B5E7-BD036F23C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478" y="2753360"/>
            <a:ext cx="4184002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6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3185-6011-6F5F-6902-9DF85D5A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00590"/>
            <a:ext cx="8911687" cy="828770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A4B07-1CED-5E20-3AEC-FC9786001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132" y="1717040"/>
            <a:ext cx="6361748" cy="3777622"/>
          </a:xfrm>
        </p:spPr>
        <p:txBody>
          <a:bodyPr>
            <a:normAutofit fontScale="92500" lnSpcReduction="10000"/>
          </a:bodyPr>
          <a:lstStyle/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vs Non-Gold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There are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total of 10 users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out of which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5 are gold users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algn="l">
              <a:buSzPct val="1500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Revenue Contribution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algn="l">
              <a:buSzPct val="15000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Gold Users– ₹3830(55%)</a:t>
            </a:r>
          </a:p>
          <a:p>
            <a:pPr marL="0" lvl="0" indent="0" algn="l">
              <a:buSzPct val="15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Non-gold Users – ₹3060(45%)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Popular Product Among Gold Users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Dal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Makhani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>
              <a:buSzPct val="1500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Gold membership Tenure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algn="l">
              <a:buSzPct val="15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Anshul &amp; Sahil – 8 years</a:t>
            </a:r>
          </a:p>
          <a:p>
            <a:pPr marL="0" lvl="0" indent="0" algn="l">
              <a:buSzPct val="15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Sreya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&amp; Aryan– 7 years</a:t>
            </a:r>
          </a:p>
          <a:p>
            <a:pPr marL="0" lvl="0" indent="0" algn="l">
              <a:buSzPct val="15000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Priya– 6 years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40829-610D-E08F-20C8-918B1F981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611" y="2598308"/>
            <a:ext cx="4182218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5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BA30-0D31-0DB6-69EF-ADC35CB0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59950"/>
            <a:ext cx="8911687" cy="849090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US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CD1E4-81D3-12BB-F372-2BAD5C7EE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652" y="1540188"/>
            <a:ext cx="6382068" cy="4271331"/>
          </a:xfrm>
        </p:spPr>
        <p:txBody>
          <a:bodyPr>
            <a:normAutofit fontScale="77500" lnSpcReduction="20000"/>
          </a:bodyPr>
          <a:lstStyle/>
          <a:p>
            <a:r>
              <a:rPr lang="en-IN" sz="21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Trends</a:t>
            </a:r>
          </a:p>
          <a:p>
            <a:pPr marL="285750" lvl="0" indent="-285750" algn="l">
              <a:buSzPct val="1500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Yearly Revenue Trends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lvl="0" indent="0" algn="l">
              <a:buSzPct val="150000"/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       Highest Revenue in 2017 and Lowest Revenue in 2014 .</a:t>
            </a:r>
          </a:p>
          <a:p>
            <a:pPr marL="0" lvl="0" indent="0" algn="l">
              <a:buSzPct val="150000"/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       Growth peaked 2016 → 2017, slight decline afterward.</a:t>
            </a:r>
          </a:p>
          <a:p>
            <a:pPr marL="285750" lvl="0" indent="-285750" algn="l">
              <a:buSzPct val="1500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First Orders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algn="l">
              <a:buSzPct val="150000"/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       Dal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Makhani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was the first order for 4 users.</a:t>
            </a:r>
          </a:p>
          <a:p>
            <a:pPr marL="0" lvl="0" indent="0" algn="l">
              <a:buSzPct val="150000"/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       Chicken Tikka was the first order of 2 users.</a:t>
            </a:r>
          </a:p>
          <a:p>
            <a:pPr>
              <a:buSzPct val="150000"/>
              <a:buFont typeface="Arial" panose="020B0604020202020204" pitchFamily="34" charset="0"/>
              <a:buChar char="•"/>
            </a:pPr>
            <a:r>
              <a:rPr lang="en-IN" sz="2100" b="1" dirty="0">
                <a:latin typeface="Arial" panose="020B0604020202020204" pitchFamily="34" charset="0"/>
                <a:cs typeface="Arial" panose="020B0604020202020204" pitchFamily="34" charset="0"/>
              </a:rPr>
              <a:t>Behaviour Insights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algn="l">
              <a:buSzPct val="150000"/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        Gold members place more frequent orders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lvl="0" indent="0" algn="l">
              <a:buSzPct val="150000"/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        Spending before &amp; after gold signup varies, showing increased loyalty post-membership</a:t>
            </a:r>
          </a:p>
          <a:p>
            <a:pPr marL="0" lvl="0" indent="0" algn="l">
              <a:buSzPct val="150000"/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        Clear favorites suggest scope for personalized</a:t>
            </a:r>
          </a:p>
          <a:p>
            <a:pPr>
              <a:buSzPct val="15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6E366-545D-D77C-5AF7-B27272BDE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211" y="2779609"/>
            <a:ext cx="4182218" cy="38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94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1F8E-DFC4-F117-4B79-EBA1EE79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319310"/>
            <a:ext cx="8911687" cy="757650"/>
          </a:xfrm>
        </p:spPr>
        <p:txBody>
          <a:bodyPr/>
          <a:lstStyle/>
          <a:p>
            <a:pPr algn="ctr"/>
            <a:r>
              <a:rPr lang="e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Insights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C3D6-58C3-BA17-69C2-AB3A7465F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492" y="1540189"/>
            <a:ext cx="6808788" cy="3777622"/>
          </a:xfrm>
        </p:spPr>
        <p:txBody>
          <a:bodyPr/>
          <a:lstStyle/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Behaviour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Customers show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strong loyalty to specific dishes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like Butter Chicken, Shahi Paneer and Dal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Makhani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Gold members consistently spend more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order more frequently  proving the effectiveness of the loyalty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Non-gold users contribute less revenue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highlighting the importance of converting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First orders (like Dal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Makhani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Chicken Tikka) often become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gateway dishes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that drive repeat behavior.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EE2A1-F03B-CA1A-ABCF-C0346A41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41" y="2042161"/>
            <a:ext cx="3972560" cy="393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2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1FAE3-FD06-0C77-75AA-82CD1F49B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06333"/>
            <a:ext cx="8911687" cy="740147"/>
          </a:xfrm>
        </p:spPr>
        <p:txBody>
          <a:bodyPr/>
          <a:lstStyle/>
          <a:p>
            <a:pPr algn="ctr"/>
            <a:r>
              <a:rPr lang="e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1B25B-8C7E-EB12-AC1A-C88835C49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19" y="1540189"/>
            <a:ext cx="7371301" cy="3777622"/>
          </a:xfrm>
        </p:spPr>
        <p:txBody>
          <a:bodyPr/>
          <a:lstStyle/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&amp;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Sales revenue peaked in 2017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but declined afterward → indicates potential customer churn or lack of new engagement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Certain products (Mango Lassi, Veg Curry) remain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underutilized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suggesting mismatched customer preferences.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Gold membership signup dates spread over years (2017–2019)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→ shows steady adoption but also room to accelerate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Seasonal or yearly variations show that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marketing campaigns should align with peak demand periods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70671-77E2-57FF-F19B-9FCA3274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81" y="2580640"/>
            <a:ext cx="3820160" cy="408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21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56A2-E008-6136-1022-3FC2043C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06333"/>
            <a:ext cx="8911687" cy="912867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Actionable Insights</a:t>
            </a:r>
            <a:endParaRPr lang="en-US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3FEF4-BBA6-07D2-E98C-BF7BAF473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379" y="1519868"/>
            <a:ext cx="7076661" cy="4301811"/>
          </a:xfrm>
        </p:spPr>
        <p:txBody>
          <a:bodyPr/>
          <a:lstStyle/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&amp;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Promote Top Products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 Butter Chicken, Shahi Paneer, and Mutton Biryani are revenue leaders → highlight them in ads &amp; special combos.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Boost low selling item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Mango Lassi &amp; Veg Curry have very low sales → either improve visibility or phase them 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Personalized Recommendations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Each customer has a clear favorite dish → recommend these items in repeat orders to increase loyalty.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C96D7-7126-7383-8BA8-25E94832D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920" y="2377440"/>
            <a:ext cx="3576320" cy="403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48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6991-768D-D354-B196-43B2C7694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306333"/>
            <a:ext cx="8911687" cy="862067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Actionable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1A82D-005C-FB8D-35F4-8052C410B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1428428"/>
            <a:ext cx="6514148" cy="4301811"/>
          </a:xfrm>
        </p:spPr>
        <p:txBody>
          <a:bodyPr>
            <a:normAutofit/>
          </a:bodyPr>
          <a:lstStyle/>
          <a:p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Membership and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Expand gold membership: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Gold users spend 55% of total revenue despite being only 50% of users → push upgrade offers to non-gold customers</a:t>
            </a:r>
          </a:p>
          <a:p>
            <a:pPr marL="285750" lvl="0" indent="-285750" algn="l">
              <a:buSzPct val="1500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Retention Strategy: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Revenue peaked in 2017, then declined → re-engage inactive customers with discounts, festive offers, or loyalty points.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Personalized Recommendations: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Each customer has a clear favorite dish → recommend these items in repeat orders to increase loyalty.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Leverage first order Insights: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Makhani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is the most common first dish ordered → offer it as a “Welcome Dish Discount” to attract new users.             </a:t>
            </a:r>
          </a:p>
          <a:p>
            <a:pPr marL="0" lvl="0" indent="0" algn="l">
              <a:buSzPct val="150000"/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7E002-F6C5-C00B-478D-DED9A00A9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249856"/>
            <a:ext cx="3495040" cy="430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8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39F7-1D7C-C559-E851-FFD95F0B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80270"/>
            <a:ext cx="8911687" cy="838930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88252-45A4-2C0C-66F8-F296C4D8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79" y="1540188"/>
            <a:ext cx="6822661" cy="4271332"/>
          </a:xfrm>
        </p:spPr>
        <p:txBody>
          <a:bodyPr/>
          <a:lstStyle/>
          <a:p>
            <a:pPr marL="285750" lvl="0" indent="-285750" algn="l">
              <a:buSzPct val="150000"/>
              <a:buFont typeface="Arial" panose="020B0604020202020204" pitchFamily="34" charset="0"/>
              <a:buChar char="•"/>
            </a:pPr>
            <a:r>
              <a:rPr lang="en-US" sz="1800" dirty="0"/>
              <a:t>This project analyzed </a:t>
            </a:r>
            <a:r>
              <a:rPr lang="en-US" sz="1800" b="1" dirty="0"/>
              <a:t>customer behavior</a:t>
            </a:r>
            <a:r>
              <a:rPr lang="en-US" sz="1800" dirty="0"/>
              <a:t> using SQL queries on sales, users, products, and gold membership data.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sz="1800" dirty="0"/>
              <a:t>Analysis of customer sales data revealed </a:t>
            </a:r>
            <a:r>
              <a:rPr lang="en-US" sz="1800" b="1" dirty="0"/>
              <a:t>clear purchase patterns</a:t>
            </a:r>
            <a:r>
              <a:rPr lang="en-US" sz="1800" dirty="0"/>
              <a:t>.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sz="1800" b="1" dirty="0"/>
              <a:t>Gold Members s</a:t>
            </a:r>
            <a:r>
              <a:rPr lang="en-US" sz="1800" dirty="0"/>
              <a:t>pend more &amp; order more → program adds strong value.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sz="1800" dirty="0"/>
              <a:t>Revenue peaked in 2017, slight decline afterward.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sz="1800" dirty="0"/>
              <a:t>Customers show </a:t>
            </a:r>
            <a:r>
              <a:rPr lang="en-US" sz="1800" b="1" dirty="0"/>
              <a:t>loyalty to favorites</a:t>
            </a:r>
            <a:r>
              <a:rPr lang="en-US" sz="1800" dirty="0"/>
              <a:t> &amp; repeat behaviors.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sz="1800" dirty="0"/>
              <a:t>Findings highlight the need for </a:t>
            </a:r>
            <a:r>
              <a:rPr lang="en-US" sz="1800" b="1" dirty="0"/>
              <a:t>targeted promotions, stronger engagement, and gold membership expansion</a:t>
            </a:r>
            <a:r>
              <a:rPr lang="en-US" sz="1800" dirty="0"/>
              <a:t>.</a:t>
            </a:r>
            <a:endParaRPr lang="en-US" sz="2000" dirty="0"/>
          </a:p>
          <a:p>
            <a:pPr marL="285750" lvl="0" indent="-285750" algn="l">
              <a:buSzPct val="150000"/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0C9EA-F270-813A-1B09-CB2E47BAA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20" y="2992850"/>
            <a:ext cx="3657599" cy="34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34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AA5E443-1B5A-F7AC-EA11-F632C55D8B74}"/>
              </a:ext>
            </a:extLst>
          </p:cNvPr>
          <p:cNvSpPr txBox="1"/>
          <p:nvPr/>
        </p:nvSpPr>
        <p:spPr>
          <a:xfrm>
            <a:off x="1828800" y="2104017"/>
            <a:ext cx="891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B050"/>
                </a:solidFill>
                <a:latin typeface="Arial Black" panose="020B0A04020102020204" pitchFamily="34" charset="0"/>
              </a:rPr>
              <a:t>Thank you!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0195D5-4904-9F30-8A12-C9146ED7D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739" y="3429000"/>
            <a:ext cx="5854262" cy="340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372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669</TotalTime>
  <Words>879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Century Gothic</vt:lpstr>
      <vt:lpstr>Courier New</vt:lpstr>
      <vt:lpstr>Wingdings</vt:lpstr>
      <vt:lpstr>Wingdings 3</vt:lpstr>
      <vt:lpstr>Wisp</vt:lpstr>
      <vt:lpstr>EXPLORING CUSTOMER BEHAVIOR THROUGH DATABASE ANALYSIS </vt:lpstr>
      <vt:lpstr>Introduction</vt:lpstr>
      <vt:lpstr>Introduction</vt:lpstr>
      <vt:lpstr>Methodology</vt:lpstr>
      <vt:lpstr>Methodology</vt:lpstr>
      <vt:lpstr>Key Findings</vt:lpstr>
      <vt:lpstr>Key Findings</vt:lpstr>
      <vt:lpstr>Key Findings</vt:lpstr>
      <vt:lpstr> Insights</vt:lpstr>
      <vt:lpstr>Insights</vt:lpstr>
      <vt:lpstr>Actionable Insights</vt:lpstr>
      <vt:lpstr>Actionable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CUSTOMER BEHAVIOR THROUGH DATABASE ANALYSIS </dc:title>
  <dc:creator>pc</dc:creator>
  <cp:lastModifiedBy>pc</cp:lastModifiedBy>
  <cp:revision>33</cp:revision>
  <dcterms:created xsi:type="dcterms:W3CDTF">2025-11-08T06:42:19Z</dcterms:created>
  <dcterms:modified xsi:type="dcterms:W3CDTF">2025-11-08T17:53:44Z</dcterms:modified>
</cp:coreProperties>
</file>