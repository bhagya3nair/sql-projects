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8" r:id="rId4"/>
  </p:sldMasterIdLst>
  <p:notesMasterIdLst>
    <p:notesMasterId r:id="rId27"/>
  </p:notesMasterIdLst>
  <p:handoutMasterIdLst>
    <p:handoutMasterId r:id="rId28"/>
  </p:handoutMasterIdLst>
  <p:sldIdLst>
    <p:sldId id="294" r:id="rId5"/>
    <p:sldId id="295" r:id="rId6"/>
    <p:sldId id="296" r:id="rId7"/>
    <p:sldId id="297" r:id="rId8"/>
    <p:sldId id="298" r:id="rId9"/>
    <p:sldId id="299" r:id="rId10"/>
    <p:sldId id="300" r:id="rId11"/>
    <p:sldId id="302" r:id="rId12"/>
    <p:sldId id="301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2025-11-09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2025-11-09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391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6492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7133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5779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573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76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480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5405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5394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175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4657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38068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3812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335220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8576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36725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24067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709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  <p:sldLayoutId id="2147484070" r:id="rId12"/>
    <p:sldLayoutId id="2147484071" r:id="rId13"/>
    <p:sldLayoutId id="2147484072" r:id="rId14"/>
    <p:sldLayoutId id="2147484073" r:id="rId15"/>
    <p:sldLayoutId id="2147484074" r:id="rId16"/>
    <p:sldLayoutId id="214748407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6CD5-B2A4-3576-E97F-93B5D4EB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292" y="1114212"/>
            <a:ext cx="9181148" cy="4128348"/>
          </a:xfrm>
        </p:spPr>
        <p:txBody>
          <a:bodyPr>
            <a:normAutofit/>
          </a:bodyPr>
          <a:lstStyle/>
          <a:p>
            <a:pPr algn="ctr"/>
            <a:r>
              <a:rPr lang="en" sz="7200" b="1" dirty="0">
                <a:solidFill>
                  <a:schemeClr val="bg1"/>
                </a:solidFill>
              </a:rPr>
              <a:t>Workforce Income Analysis using SQL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546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168B-92ED-1EEC-B243-C87077BAB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7095" y="1605280"/>
            <a:ext cx="7047548" cy="1960880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solidFill>
                  <a:schemeClr val="bg1"/>
                </a:solidFill>
              </a:rPr>
              <a:t>Introduction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4" name="Google Shape;858;p28">
            <a:extLst>
              <a:ext uri="{FF2B5EF4-FFF2-40B4-BE49-F238E27FC236}">
                <a16:creationId xmlns:a16="http://schemas.microsoft.com/office/drawing/2014/main" id="{826F5221-1381-00D3-A897-49D137328804}"/>
              </a:ext>
            </a:extLst>
          </p:cNvPr>
          <p:cNvSpPr/>
          <p:nvPr/>
        </p:nvSpPr>
        <p:spPr>
          <a:xfrm rot="5400000">
            <a:off x="9720763" y="948680"/>
            <a:ext cx="650240" cy="866160"/>
          </a:xfrm>
          <a:custGeom>
            <a:avLst/>
            <a:gdLst/>
            <a:ahLst/>
            <a:cxnLst/>
            <a:rect l="l" t="t" r="r" b="b"/>
            <a:pathLst>
              <a:path w="1454" h="2406" extrusionOk="0">
                <a:moveTo>
                  <a:pt x="1454" y="1260"/>
                </a:moveTo>
                <a:lnTo>
                  <a:pt x="727" y="0"/>
                </a:lnTo>
                <a:lnTo>
                  <a:pt x="0" y="1260"/>
                </a:lnTo>
                <a:lnTo>
                  <a:pt x="375" y="1260"/>
                </a:lnTo>
                <a:lnTo>
                  <a:pt x="375" y="2406"/>
                </a:lnTo>
                <a:lnTo>
                  <a:pt x="1079" y="2406"/>
                </a:lnTo>
                <a:lnTo>
                  <a:pt x="1079" y="1260"/>
                </a:lnTo>
                <a:lnTo>
                  <a:pt x="1454" y="1260"/>
                </a:lnTo>
                <a:close/>
              </a:path>
            </a:pathLst>
          </a:custGeom>
          <a:solidFill>
            <a:srgbClr val="FCB1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912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AFA0-E514-46DB-F4C5-8CA13FE6C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4412" y="411479"/>
            <a:ext cx="8001000" cy="807721"/>
          </a:xfrm>
        </p:spPr>
        <p:txBody>
          <a:bodyPr>
            <a:normAutofit/>
          </a:bodyPr>
          <a:lstStyle/>
          <a:p>
            <a:pPr algn="ctr"/>
            <a:r>
              <a:rPr lang="en" sz="4000" b="1" u="sng" dirty="0">
                <a:solidFill>
                  <a:schemeClr val="bg1"/>
                </a:solidFill>
              </a:rPr>
              <a:t>Introduction</a:t>
            </a:r>
            <a:endParaRPr lang="en-US" sz="4000" b="1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C86C6-801B-CF4F-8874-332D8CA83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8080" y="1625600"/>
            <a:ext cx="10200640" cy="4699001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Project is a case study which analyses Salary and Remote Work Trends Across Job Titles and Company Locations.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has 13,972 workforce records from the year 2020 to 2024.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features data like job title, experience level, salary, company size, location, remote ratio.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csv file was imported into the SQL server and analysis was done using SQL Server.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goal of this analysis is to provide insights for hiring, salary benchmarking, and workforce planning.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39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B225-0067-A1A5-DB00-317B9DA9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852" y="1469812"/>
            <a:ext cx="9557068" cy="2848188"/>
          </a:xfrm>
        </p:spPr>
        <p:txBody>
          <a:bodyPr>
            <a:normAutofit/>
          </a:bodyPr>
          <a:lstStyle/>
          <a:p>
            <a:pPr algn="ctr"/>
            <a:r>
              <a:rPr lang="en-IN" sz="6600" b="1" u="sng" dirty="0">
                <a:solidFill>
                  <a:schemeClr val="bg1"/>
                </a:solidFill>
              </a:rPr>
              <a:t>Objective</a:t>
            </a:r>
            <a:endParaRPr lang="en-US" sz="6600" b="1" u="sng" dirty="0">
              <a:solidFill>
                <a:schemeClr val="bg1"/>
              </a:solidFill>
            </a:endParaRPr>
          </a:p>
        </p:txBody>
      </p:sp>
      <p:sp>
        <p:nvSpPr>
          <p:cNvPr id="3" name="Google Shape;858;p28">
            <a:extLst>
              <a:ext uri="{FF2B5EF4-FFF2-40B4-BE49-F238E27FC236}">
                <a16:creationId xmlns:a16="http://schemas.microsoft.com/office/drawing/2014/main" id="{05E4DC7E-BA94-0B37-434E-42145168ED24}"/>
              </a:ext>
            </a:extLst>
          </p:cNvPr>
          <p:cNvSpPr/>
          <p:nvPr/>
        </p:nvSpPr>
        <p:spPr>
          <a:xfrm rot="5400000">
            <a:off x="10017843" y="656480"/>
            <a:ext cx="523440" cy="866160"/>
          </a:xfrm>
          <a:custGeom>
            <a:avLst/>
            <a:gdLst/>
            <a:ahLst/>
            <a:cxnLst/>
            <a:rect l="l" t="t" r="r" b="b"/>
            <a:pathLst>
              <a:path w="1454" h="2406" extrusionOk="0">
                <a:moveTo>
                  <a:pt x="1454" y="1260"/>
                </a:moveTo>
                <a:lnTo>
                  <a:pt x="727" y="0"/>
                </a:lnTo>
                <a:lnTo>
                  <a:pt x="0" y="1260"/>
                </a:lnTo>
                <a:lnTo>
                  <a:pt x="375" y="1260"/>
                </a:lnTo>
                <a:lnTo>
                  <a:pt x="375" y="2406"/>
                </a:lnTo>
                <a:lnTo>
                  <a:pt x="1079" y="2406"/>
                </a:lnTo>
                <a:lnTo>
                  <a:pt x="1079" y="1260"/>
                </a:lnTo>
                <a:lnTo>
                  <a:pt x="1454" y="1260"/>
                </a:lnTo>
                <a:close/>
              </a:path>
            </a:pathLst>
          </a:custGeom>
          <a:solidFill>
            <a:srgbClr val="FCB1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7159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6DEF4-E3C9-3A6A-360C-0632331B6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532" y="695959"/>
            <a:ext cx="8001000" cy="726441"/>
          </a:xfrm>
        </p:spPr>
        <p:txBody>
          <a:bodyPr>
            <a:normAutofit/>
          </a:bodyPr>
          <a:lstStyle/>
          <a:p>
            <a:pPr algn="ctr"/>
            <a:r>
              <a:rPr lang="en" sz="4000" b="1" u="sng" dirty="0">
                <a:solidFill>
                  <a:schemeClr val="bg1"/>
                </a:solidFill>
              </a:rPr>
              <a:t>Objective</a:t>
            </a:r>
            <a:endParaRPr lang="en-US" sz="4000" b="1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6669A-21A3-D7CA-9339-AD2AB0C61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2092959"/>
            <a:ext cx="10139680" cy="4257041"/>
          </a:xfrm>
        </p:spPr>
        <p:txBody>
          <a:bodyPr/>
          <a:lstStyle/>
          <a:p>
            <a:r>
              <a:rPr lang="en-IN" dirty="0"/>
              <a:t>💰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Business Insights &amp; Strategy</a:t>
            </a:r>
          </a:p>
          <a:p>
            <a:pPr marL="0" indent="0" algn="l"/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     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 salaries by role, level &amp; location</a:t>
            </a:r>
          </a:p>
          <a:p>
            <a:pPr marL="0" indent="0" algn="l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Spot fast-growing markets &amp; industries</a:t>
            </a:r>
          </a:p>
          <a:p>
            <a:pPr marL="0" indent="0"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Retain talent with competitive pay</a:t>
            </a:r>
          </a:p>
          <a:p>
            <a:pPr marL="0" indent="0"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Shape remote work policies effectively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/>
              <a:t>👥</a:t>
            </a:r>
            <a:r>
              <a:rPr lang="en-IN" sz="1100" dirty="0"/>
              <a:t> </a:t>
            </a:r>
            <a:r>
              <a:rPr lang="en-IN" sz="2000" b="1" dirty="0"/>
              <a:t>Talent Acquisition &amp; Planning</a:t>
            </a:r>
            <a:br>
              <a:rPr lang="en-IN" sz="2000" b="1" dirty="0"/>
            </a:br>
            <a:r>
              <a:rPr lang="en-IN" sz="2000" b="1" dirty="0"/>
              <a:t>     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high-paying &amp; remote-friendly regions</a:t>
            </a:r>
          </a:p>
          <a:p>
            <a:pPr marL="0" indent="0" algn="l"/>
            <a:r>
              <a:rPr lang="en-IN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Hire based on demand for experience levels</a:t>
            </a:r>
          </a:p>
          <a:p>
            <a:pPr marL="0" indent="0"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Detect skill shortages</a:t>
            </a:r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/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4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359AF-EA23-63B3-34E4-38876C783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2852" y="627379"/>
            <a:ext cx="8001000" cy="878841"/>
          </a:xfrm>
        </p:spPr>
        <p:txBody>
          <a:bodyPr/>
          <a:lstStyle/>
          <a:p>
            <a:pPr algn="ctr"/>
            <a:r>
              <a:rPr lang="en" sz="4800" b="1" u="sng" dirty="0">
                <a:solidFill>
                  <a:schemeClr val="bg1"/>
                </a:solidFill>
              </a:rPr>
              <a:t>Objective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3A4C8-9ADC-D779-EE11-A44624B20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320" y="2143759"/>
            <a:ext cx="9611360" cy="4259581"/>
          </a:xfrm>
        </p:spPr>
        <p:txBody>
          <a:bodyPr/>
          <a:lstStyle/>
          <a:p>
            <a:pPr marL="0" indent="0" algn="l"/>
            <a:r>
              <a:rPr lang="en-IN" dirty="0"/>
              <a:t>📈 </a:t>
            </a:r>
            <a:r>
              <a:rPr lang="en-I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&amp; Competitiveness</a:t>
            </a:r>
            <a:br>
              <a:rPr lang="en-IN" b="1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     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 salary trends &amp; track growth roles</a:t>
            </a:r>
          </a:p>
          <a:p>
            <a:pPr marL="0" indent="0"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Benchmark pay &amp; flexibility with competitors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🌍 Geography &amp; Remote Work</a:t>
            </a:r>
            <a:b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remote adoption across regions</a:t>
            </a:r>
          </a:p>
          <a:p>
            <a:pPr marL="0" lvl="0" indent="0"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Find locations with strong talent pools</a:t>
            </a: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🏢 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 &amp; Career Pathing</a:t>
            </a:r>
            <a:b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Add performance-based incentives</a:t>
            </a:r>
          </a:p>
          <a:p>
            <a:pPr marL="0" lvl="0" indent="0"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Create training for high-growth roles</a:t>
            </a:r>
          </a:p>
          <a:p>
            <a:pPr marL="0" lvl="0" indent="0" algn="l"/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Guide employees toward better-paying domains</a:t>
            </a:r>
          </a:p>
          <a:p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580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D5B0-5BD3-CEB3-8784-7B4561B39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4412" y="452119"/>
            <a:ext cx="8001000" cy="85852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Methodology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3504-48ED-9338-575E-C24828473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3172" y="1854202"/>
            <a:ext cx="10065068" cy="4551679"/>
          </a:xfrm>
        </p:spPr>
        <p:txBody>
          <a:bodyPr>
            <a:normAutofit lnSpcReduction="10000"/>
          </a:bodyPr>
          <a:lstStyle/>
          <a:p>
            <a:pPr marL="0" indent="0" algn="l"/>
            <a:r>
              <a:rPr lang="en-IN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📂 </a:t>
            </a:r>
            <a:r>
              <a:rPr lang="en-IN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collection &amp; Import:</a:t>
            </a:r>
          </a:p>
          <a:p>
            <a:pPr marL="0" indent="0" algn="l"/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Dataset of ~14,000 records imported from CSV into SQL Server.</a:t>
            </a:r>
          </a:p>
          <a:p>
            <a:pPr marL="0" indent="0" algn="l"/>
            <a:endParaRPr lang="en-US" sz="1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/>
            <a:r>
              <a:rPr lang="en-IN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🔎 </a:t>
            </a:r>
            <a:r>
              <a:rPr lang="en-IN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Analysis:</a:t>
            </a:r>
          </a:p>
          <a:p>
            <a:pPr marL="0" indent="0" algn="l"/>
            <a:r>
              <a:rPr lang="en-IN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aggregate functions, joins, and subqueries to analyze salaries, experience levels, and       remote work trends.</a:t>
            </a:r>
          </a:p>
          <a:p>
            <a:pPr marL="0" indent="0" algn="l"/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queries to address tasks like salary benchmarking, growth tracking, and workforce distribution.</a:t>
            </a:r>
          </a:p>
          <a:p>
            <a:pPr marL="0" indent="0" algn="l"/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/>
            <a:r>
              <a:rPr lang="en-IN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📊 </a:t>
            </a:r>
            <a:r>
              <a:rPr lang="en-IN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 Extraction</a:t>
            </a:r>
            <a:r>
              <a:rPr lang="en-IN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0" indent="0" algn="l"/>
            <a:r>
              <a:rPr lang="en-IN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1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Summarized query outputs into meaningful findings by role, geography, and company size.</a:t>
            </a:r>
            <a:endParaRPr lang="en-IN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1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5C07-476D-113A-A2B8-E9F729D3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772" y="2584026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" sz="6600" b="1" u="sng" dirty="0">
                <a:solidFill>
                  <a:schemeClr val="bg1"/>
                </a:solidFill>
              </a:rPr>
              <a:t>Key Findings</a:t>
            </a:r>
            <a:endParaRPr lang="en-US" sz="6600" b="1" u="sng" dirty="0">
              <a:solidFill>
                <a:schemeClr val="bg1"/>
              </a:solidFill>
            </a:endParaRPr>
          </a:p>
        </p:txBody>
      </p:sp>
      <p:sp>
        <p:nvSpPr>
          <p:cNvPr id="5" name="Google Shape;858;p28">
            <a:extLst>
              <a:ext uri="{FF2B5EF4-FFF2-40B4-BE49-F238E27FC236}">
                <a16:creationId xmlns:a16="http://schemas.microsoft.com/office/drawing/2014/main" id="{59CD0EA2-E070-C613-0320-4C7122A34DE4}"/>
              </a:ext>
            </a:extLst>
          </p:cNvPr>
          <p:cNvSpPr/>
          <p:nvPr/>
        </p:nvSpPr>
        <p:spPr>
          <a:xfrm rot="5400000">
            <a:off x="9547586" y="1030419"/>
            <a:ext cx="671477" cy="866160"/>
          </a:xfrm>
          <a:custGeom>
            <a:avLst/>
            <a:gdLst/>
            <a:ahLst/>
            <a:cxnLst/>
            <a:rect l="l" t="t" r="r" b="b"/>
            <a:pathLst>
              <a:path w="1454" h="2406" extrusionOk="0">
                <a:moveTo>
                  <a:pt x="1454" y="1260"/>
                </a:moveTo>
                <a:lnTo>
                  <a:pt x="727" y="0"/>
                </a:lnTo>
                <a:lnTo>
                  <a:pt x="0" y="1260"/>
                </a:lnTo>
                <a:lnTo>
                  <a:pt x="375" y="1260"/>
                </a:lnTo>
                <a:lnTo>
                  <a:pt x="375" y="2406"/>
                </a:lnTo>
                <a:lnTo>
                  <a:pt x="1079" y="2406"/>
                </a:lnTo>
                <a:lnTo>
                  <a:pt x="1079" y="1260"/>
                </a:lnTo>
                <a:lnTo>
                  <a:pt x="1454" y="1260"/>
                </a:lnTo>
                <a:close/>
              </a:path>
            </a:pathLst>
          </a:custGeom>
          <a:solidFill>
            <a:srgbClr val="FCB1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2598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75F4-D2E6-DE4D-E797-372620A36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8212" y="591819"/>
            <a:ext cx="8001000" cy="94996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Key Findings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BB1AA-6998-81E9-226F-49BCC8F7C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906" y="2357121"/>
            <a:ext cx="10898188" cy="3576319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Majority of employees worked in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companies (124)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vs medium (52) &amp; small (42).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Full-time roles dominate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with select job titles showing higher part-time presence.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US,IN,DE,CA and GB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 the largest concentration of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companies.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work adoption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declined sharply from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 → 2024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across all experience levels.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9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7F4D-CAC2-18BB-5809-4F288464E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4412" y="543559"/>
            <a:ext cx="8001000" cy="84836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Key Findings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D7B702-4A00-7D7B-A2F9-1E71A468B4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0320" y="2184401"/>
            <a:ext cx="9834880" cy="3911599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Scientists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worked as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year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highest avg. salary at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$95,650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Mid-level salaries in Countries like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SA, AU, CA, QA, US, TN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above global average in the year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2023.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Senior-level salaries show sharp variation, ranging from the highest in IL($266K) and lowest in TR($18K)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Nearly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75% of remote employees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earn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&gt;$100K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7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417B-5DB8-71AE-9387-185FE305B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092" y="647699"/>
            <a:ext cx="8001000" cy="83820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Key Findings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8F9781-4AA1-3E55-4761-12948459D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7160" y="2428241"/>
            <a:ext cx="9377680" cy="3413760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salary growth was found in the year 2023-2024 where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 (+11.6%)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(+8.4%)</a:t>
            </a:r>
          </a:p>
          <a:p>
            <a:pPr marL="0" indent="0" algn="l"/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EX (+4.8%)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SE(+2.0%)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Countries like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DE, CA, IT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show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sustained salary increases (2020–2023)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role changes within the same level often yield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substantial salary boosts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490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B79A-0921-BD54-13F1-F520ABE1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960" y="2336800"/>
            <a:ext cx="8869680" cy="1987973"/>
          </a:xfrm>
        </p:spPr>
        <p:txBody>
          <a:bodyPr>
            <a:noAutofit/>
          </a:bodyPr>
          <a:lstStyle/>
          <a:p>
            <a:pPr algn="ctr"/>
            <a:r>
              <a:rPr lang="en" sz="6600" b="1" u="sng" dirty="0">
                <a:solidFill>
                  <a:schemeClr val="bg1"/>
                </a:solidFill>
              </a:rPr>
              <a:t>Actionable Insights</a:t>
            </a:r>
            <a:endParaRPr lang="en-US" sz="6600" b="1" u="sng" dirty="0">
              <a:solidFill>
                <a:schemeClr val="bg1"/>
              </a:solidFill>
            </a:endParaRPr>
          </a:p>
        </p:txBody>
      </p:sp>
      <p:sp>
        <p:nvSpPr>
          <p:cNvPr id="3" name="Google Shape;858;p28">
            <a:extLst>
              <a:ext uri="{FF2B5EF4-FFF2-40B4-BE49-F238E27FC236}">
                <a16:creationId xmlns:a16="http://schemas.microsoft.com/office/drawing/2014/main" id="{2E6A6CAB-E12A-BF62-ADD8-4B4A518E26F8}"/>
              </a:ext>
            </a:extLst>
          </p:cNvPr>
          <p:cNvSpPr/>
          <p:nvPr/>
        </p:nvSpPr>
        <p:spPr>
          <a:xfrm rot="5400000">
            <a:off x="9811746" y="928819"/>
            <a:ext cx="671477" cy="866160"/>
          </a:xfrm>
          <a:custGeom>
            <a:avLst/>
            <a:gdLst/>
            <a:ahLst/>
            <a:cxnLst/>
            <a:rect l="l" t="t" r="r" b="b"/>
            <a:pathLst>
              <a:path w="1454" h="2406" extrusionOk="0">
                <a:moveTo>
                  <a:pt x="1454" y="1260"/>
                </a:moveTo>
                <a:lnTo>
                  <a:pt x="727" y="0"/>
                </a:lnTo>
                <a:lnTo>
                  <a:pt x="0" y="1260"/>
                </a:lnTo>
                <a:lnTo>
                  <a:pt x="375" y="1260"/>
                </a:lnTo>
                <a:lnTo>
                  <a:pt x="375" y="2406"/>
                </a:lnTo>
                <a:lnTo>
                  <a:pt x="1079" y="2406"/>
                </a:lnTo>
                <a:lnTo>
                  <a:pt x="1079" y="1260"/>
                </a:lnTo>
                <a:lnTo>
                  <a:pt x="1454" y="1260"/>
                </a:lnTo>
                <a:close/>
              </a:path>
            </a:pathLst>
          </a:custGeom>
          <a:solidFill>
            <a:srgbClr val="FCB1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1085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7D7F-0786-B09E-D89F-5898A0C7A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1572" y="655319"/>
            <a:ext cx="8001000" cy="980441"/>
          </a:xfrm>
        </p:spPr>
        <p:txBody>
          <a:bodyPr>
            <a:normAutofit/>
          </a:bodyPr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Actionable Insights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3717E-844D-F9A0-1A83-64FC63A09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9840" y="2164080"/>
            <a:ext cx="9936480" cy="4175759"/>
          </a:xfrm>
        </p:spPr>
        <p:txBody>
          <a:bodyPr>
            <a:norm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roles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as almost 75% of fully remote staff earn &gt;$100K.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geo-based pay bands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as SE salaries range from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$266K → TR $18K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hiring in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 mid-level markets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QA, AU, TN, SA, US, CA.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 recruiting with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hubs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 US, IN, DE, CA, GB.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 office &amp; hybrid policies because fully remote showed a rapid  fall from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2021→2024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5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F2ED-7A63-0FA8-C468-BCDA1703E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1092" y="586739"/>
            <a:ext cx="8001000" cy="96012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Actionable 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81FB6-B34F-3C9F-A0F6-8E0A04DA6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8560" y="2458721"/>
            <a:ext cx="10444480" cy="3515359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Prioritize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mid-level pipelines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(+11.6% avg. growth 2023→24)..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 in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entry-level sourcing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high-ROI markets like MX, SE, US.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structured promotions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entry &amp; mid-levels grow fastest.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Retain staff by offering them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role-switch options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higher avg. salaries.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672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50F6-5942-56F1-FD1D-BF5095770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2" y="652779"/>
            <a:ext cx="8001000" cy="82804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Actionable 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735FF-526A-2508-01DC-C1AF60E7F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480" y="2214881"/>
            <a:ext cx="10535920" cy="3495040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Encourage </a:t>
            </a:r>
            <a:r>
              <a:rPr lang="en-IN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mobility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e.g., EN Data Analyst → Applied Scientist (+~$79K)</a:t>
            </a:r>
          </a:p>
          <a:p>
            <a:pPr marL="0" indent="0" algn="l"/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Upskill toward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high-growth roles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such as ML Engineer, Data Science Consultant.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emerging talent hubs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 DE, CA, IT with sustained salary growth.</a:t>
            </a:r>
          </a:p>
          <a:p>
            <a:pPr marL="0" indent="0" algn="l"/>
            <a:endParaRPr lang="en-US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Managers have to  look beyond US for remote hires, but note market scarcity.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081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3761-C268-4990-39BE-AAE6A1DFD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0" y="2431626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" sz="4800" b="1" u="sng" dirty="0">
                <a:solidFill>
                  <a:schemeClr val="bg1"/>
                </a:solidFill>
              </a:rPr>
              <a:t>Insights</a:t>
            </a:r>
            <a:endParaRPr lang="en-US" sz="4800" b="1" u="sng" dirty="0">
              <a:solidFill>
                <a:schemeClr val="bg1"/>
              </a:solidFill>
            </a:endParaRPr>
          </a:p>
        </p:txBody>
      </p:sp>
      <p:sp>
        <p:nvSpPr>
          <p:cNvPr id="5" name="Google Shape;858;p28">
            <a:extLst>
              <a:ext uri="{FF2B5EF4-FFF2-40B4-BE49-F238E27FC236}">
                <a16:creationId xmlns:a16="http://schemas.microsoft.com/office/drawing/2014/main" id="{2573C08D-669A-CE99-8D93-E8FAEEBA0958}"/>
              </a:ext>
            </a:extLst>
          </p:cNvPr>
          <p:cNvSpPr/>
          <p:nvPr/>
        </p:nvSpPr>
        <p:spPr>
          <a:xfrm rot="5400000">
            <a:off x="9557746" y="928819"/>
            <a:ext cx="752757" cy="866160"/>
          </a:xfrm>
          <a:custGeom>
            <a:avLst/>
            <a:gdLst/>
            <a:ahLst/>
            <a:cxnLst/>
            <a:rect l="l" t="t" r="r" b="b"/>
            <a:pathLst>
              <a:path w="1454" h="2406" extrusionOk="0">
                <a:moveTo>
                  <a:pt x="1454" y="1260"/>
                </a:moveTo>
                <a:lnTo>
                  <a:pt x="727" y="0"/>
                </a:lnTo>
                <a:lnTo>
                  <a:pt x="0" y="1260"/>
                </a:lnTo>
                <a:lnTo>
                  <a:pt x="375" y="1260"/>
                </a:lnTo>
                <a:lnTo>
                  <a:pt x="375" y="2406"/>
                </a:lnTo>
                <a:lnTo>
                  <a:pt x="1079" y="2406"/>
                </a:lnTo>
                <a:lnTo>
                  <a:pt x="1079" y="1260"/>
                </a:lnTo>
                <a:lnTo>
                  <a:pt x="1454" y="1260"/>
                </a:lnTo>
                <a:close/>
              </a:path>
            </a:pathLst>
          </a:custGeom>
          <a:solidFill>
            <a:srgbClr val="FCB1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66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724C3-8D9A-EBDE-06A8-B93301A26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8212" y="637539"/>
            <a:ext cx="8001000" cy="85852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Insights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BDD63-CE09-3A1B-2ACE-DBC48FA46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080" y="2296161"/>
            <a:ext cx="9926320" cy="3586479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Workforce is concentrated in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enterprises especially </a:t>
            </a:r>
            <a:r>
              <a:rPr lang="en-IN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US, IN, DE, CA, GB.</a:t>
            </a:r>
          </a:p>
          <a:p>
            <a:pPr marL="0" indent="0" algn="l"/>
            <a:endParaRPr lang="en-IN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Full-time roles dominate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though part-time remains relevant in select titles.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Mid-level employees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the backbone — strong salaries and fastest growth.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hubs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continue to shape global hiring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93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057A-44A6-D464-FFD0-BD6AA9503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1892" y="668019"/>
            <a:ext cx="8001000" cy="797561"/>
          </a:xfrm>
        </p:spPr>
        <p:txBody>
          <a:bodyPr>
            <a:normAutofit fontScale="90000"/>
          </a:bodyPr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EA6E9-CF10-F50B-125D-C3A036C4A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680" y="2174241"/>
            <a:ext cx="10292080" cy="3616960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strong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pay gaps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IL ($266K) vs TR ($18K) for SE roles.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Mid-level salaries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above global avg in QA, AU, TN, SA, US, CA.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Role-switching boosts pay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e.g., EN Data Analyst → Applied Scientist (+$79K)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Sustained multi-year growth in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DE, CA, IT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signals long-term market strength.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858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FE70-37BC-DF66-8190-FE7F3C06AE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132" y="632459"/>
            <a:ext cx="8001000" cy="86868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Insights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09142-3504-75C7-62A6-CC87E255B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296160"/>
            <a:ext cx="10363200" cy="3515359"/>
          </a:xfrm>
        </p:spPr>
        <p:txBody>
          <a:bodyPr/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Nearly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75% of fully remote employees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 &gt;$100K marking a higher pay.</a:t>
            </a:r>
          </a:p>
          <a:p>
            <a:pPr marL="0" indent="0" algn="l"/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Decline in remote adoption was seen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across all levels from 2021 →24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Entry &amp; Mid-level roles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show the steepest salary growth in 2023→24.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High-growth career paths include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 Engineer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 Consultant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278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61AC-9730-5DCB-6122-625449B7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495972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" sz="4800" b="1" u="sng" dirty="0">
                <a:solidFill>
                  <a:schemeClr val="bg1"/>
                </a:solidFill>
              </a:rPr>
              <a:t>Conclusion</a:t>
            </a:r>
            <a:endParaRPr lang="en-US" sz="4800" b="1" u="sng" dirty="0">
              <a:solidFill>
                <a:schemeClr val="bg1"/>
              </a:solidFill>
            </a:endParaRPr>
          </a:p>
        </p:txBody>
      </p:sp>
      <p:sp>
        <p:nvSpPr>
          <p:cNvPr id="3" name="Google Shape;858;p28">
            <a:extLst>
              <a:ext uri="{FF2B5EF4-FFF2-40B4-BE49-F238E27FC236}">
                <a16:creationId xmlns:a16="http://schemas.microsoft.com/office/drawing/2014/main" id="{EDB36177-36E6-2928-EE1B-D03E8677A4BB}"/>
              </a:ext>
            </a:extLst>
          </p:cNvPr>
          <p:cNvSpPr/>
          <p:nvPr/>
        </p:nvSpPr>
        <p:spPr>
          <a:xfrm rot="5400000">
            <a:off x="10042702" y="1126939"/>
            <a:ext cx="640997" cy="866160"/>
          </a:xfrm>
          <a:custGeom>
            <a:avLst/>
            <a:gdLst/>
            <a:ahLst/>
            <a:cxnLst/>
            <a:rect l="l" t="t" r="r" b="b"/>
            <a:pathLst>
              <a:path w="1454" h="2406" extrusionOk="0">
                <a:moveTo>
                  <a:pt x="1454" y="1260"/>
                </a:moveTo>
                <a:lnTo>
                  <a:pt x="727" y="0"/>
                </a:lnTo>
                <a:lnTo>
                  <a:pt x="0" y="1260"/>
                </a:lnTo>
                <a:lnTo>
                  <a:pt x="375" y="1260"/>
                </a:lnTo>
                <a:lnTo>
                  <a:pt x="375" y="2406"/>
                </a:lnTo>
                <a:lnTo>
                  <a:pt x="1079" y="2406"/>
                </a:lnTo>
                <a:lnTo>
                  <a:pt x="1079" y="1260"/>
                </a:lnTo>
                <a:lnTo>
                  <a:pt x="1454" y="1260"/>
                </a:lnTo>
                <a:close/>
              </a:path>
            </a:pathLst>
          </a:custGeom>
          <a:solidFill>
            <a:srgbClr val="FCB100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7608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AFB3A-9EC1-D2DC-0477-D9C055259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3332" y="642619"/>
            <a:ext cx="8001000" cy="848361"/>
          </a:xfrm>
        </p:spPr>
        <p:txBody>
          <a:bodyPr/>
          <a:lstStyle/>
          <a:p>
            <a:pPr algn="ctr"/>
            <a:r>
              <a:rPr lang="en" b="1" u="sng" dirty="0">
                <a:solidFill>
                  <a:schemeClr val="bg1"/>
                </a:solidFill>
              </a:rPr>
              <a:t>Conclusion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A2E72-4CDB-94C4-0A54-1AC4EAF4E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80" y="2062480"/>
            <a:ext cx="9966960" cy="4307839"/>
          </a:xfrm>
        </p:spPr>
        <p:txBody>
          <a:bodyPr>
            <a:normAutofit fontScale="85000" lnSpcReduction="20000"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Workforce analysis shows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salary growth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especially for entry &amp; mid-level roles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companies and key countries like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US, IN, DE, CA, GB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dominate employment trends.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Geographic pay gaps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significant therefore regional benchmarking is essential.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work offers premium pay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though adoption has declined since 2021.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Career mobility and role-switching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unlock major salary boosts and long-term retention.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 that balance 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 flexibility, regional pay equity, and structured career growth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will stay ahead in attracting and retaining top talent.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30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8B1D-027B-68DE-0E61-5D5399C4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343572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" sz="4800" b="1" dirty="0">
                <a:solidFill>
                  <a:schemeClr val="bg1"/>
                </a:solidFill>
              </a:rPr>
              <a:t>Thank You!</a:t>
            </a:r>
            <a:endParaRPr lang="en-US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50002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1607</TotalTime>
  <Words>986</Words>
  <Application>Microsoft Office PowerPoint</Application>
  <PresentationFormat>Widescreen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Courier New</vt:lpstr>
      <vt:lpstr>Wingdings 3</vt:lpstr>
      <vt:lpstr>Slice</vt:lpstr>
      <vt:lpstr>Workforce Income Analysis using SQL</vt:lpstr>
      <vt:lpstr>Introduction</vt:lpstr>
      <vt:lpstr>Introduction</vt:lpstr>
      <vt:lpstr>Objective</vt:lpstr>
      <vt:lpstr>Objective</vt:lpstr>
      <vt:lpstr>Objective</vt:lpstr>
      <vt:lpstr>Methodology</vt:lpstr>
      <vt:lpstr>Key Findings</vt:lpstr>
      <vt:lpstr>Key Findings</vt:lpstr>
      <vt:lpstr>Key Findings</vt:lpstr>
      <vt:lpstr>Key Findings</vt:lpstr>
      <vt:lpstr>Actionable Insights</vt:lpstr>
      <vt:lpstr>Actionable Insights</vt:lpstr>
      <vt:lpstr>Actionable Insights</vt:lpstr>
      <vt:lpstr>Actionable Insights</vt:lpstr>
      <vt:lpstr>Insights</vt:lpstr>
      <vt:lpstr>Insights</vt:lpstr>
      <vt:lpstr>Insights</vt:lpstr>
      <vt:lpstr>Insights</vt:lpstr>
      <vt:lpstr>Conclusion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36</cp:revision>
  <dcterms:created xsi:type="dcterms:W3CDTF">2025-11-09T11:02:56Z</dcterms:created>
  <dcterms:modified xsi:type="dcterms:W3CDTF">2025-11-10T13:50:18Z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